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20"/>
  </p:notesMasterIdLst>
  <p:handoutMasterIdLst>
    <p:handoutMasterId r:id="rId21"/>
  </p:handoutMasterIdLst>
  <p:sldIdLst>
    <p:sldId id="1497" r:id="rId5"/>
    <p:sldId id="1512" r:id="rId6"/>
    <p:sldId id="1513" r:id="rId7"/>
    <p:sldId id="1498" r:id="rId8"/>
    <p:sldId id="1500" r:id="rId9"/>
    <p:sldId id="1502" r:id="rId10"/>
    <p:sldId id="1504" r:id="rId11"/>
    <p:sldId id="1506" r:id="rId12"/>
    <p:sldId id="1507" r:id="rId13"/>
    <p:sldId id="1503" r:id="rId14"/>
    <p:sldId id="1505" r:id="rId15"/>
    <p:sldId id="1508" r:id="rId16"/>
    <p:sldId id="1509" r:id="rId17"/>
    <p:sldId id="1510" r:id="rId18"/>
    <p:sldId id="151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124185-415E-4BA8-FA0C-AC96298A788A}" v="24" dt="2026-04-29T22:30:27.329"/>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7" d="100"/>
          <a:sy n="97" d="100"/>
        </p:scale>
        <p:origin x="10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4/30/2026</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4/30/2026</a:t>
            </a:fld>
            <a:endParaRPr lang="en-US"/>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4/30/2026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4/30/2026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4/30/2026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4/30/2026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4/30/2026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4/30/2026</a:t>
            </a:fld>
            <a:endParaRPr lang="en-US"/>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4/30/2026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4/30/2026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4/30/2026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4/30/2026</a:t>
            </a:fld>
            <a:endParaRPr lang="en-US"/>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4/30/2026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4/30/2026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4/30/2026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4/30/2026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4/30/2026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4/30/2026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4/30/2026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4/30/2026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4/30/2026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a:t>Click to add Statement</a:t>
            </a:r>
          </a:p>
          <a:p>
            <a:pPr lvl="1"/>
            <a:r>
              <a:rPr lang="en-US"/>
              <a:t>Second level</a:t>
            </a:r>
          </a:p>
          <a:p>
            <a:pPr lvl="2"/>
            <a:r>
              <a:rPr lang="en-US"/>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4/30/2026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4/30/2026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4/30/2026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4/30/2026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4/30/2026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4/30/2026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4/30/2026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4/30/2026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4/30/2026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4/30/2026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4/30/2026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4/30/2026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a:t>Click to edit Master </a:t>
            </a:r>
            <a:br>
              <a:rPr lang="en-US"/>
            </a:br>
            <a:r>
              <a:rPr lang="en-US"/>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4/30/2026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e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hyperlink" Target="https://technofaq.org/posts/2019/07/targeting-data-collection-are-major-keys/" TargetMode="External"/><Relationship Id="rId2" Type="http://schemas.openxmlformats.org/officeDocument/2006/relationships/image" Target="../media/image27.jpeg"/><Relationship Id="rId1" Type="http://schemas.openxmlformats.org/officeDocument/2006/relationships/slideLayout" Target="../slideLayouts/slideLayout33.xml"/><Relationship Id="rId4" Type="http://schemas.openxmlformats.org/officeDocument/2006/relationships/hyperlink" Target="https://creativecommons.org/licenses/by-nc-sa/3.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energyintel.com/0000019d-b5f2-dcc3-afdf-bdfb7bc90000" TargetMode="External"/><Relationship Id="rId2" Type="http://schemas.openxmlformats.org/officeDocument/2006/relationships/image" Target="../media/image28.jpeg"/><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hyperlink" Target="https://www.howtogeek.com/every-google-maps-user-should-change-these-settings-now/" TargetMode="External"/><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3" Type="http://schemas.openxmlformats.org/officeDocument/2006/relationships/hyperlink" Target="https://www.cato.org/blog/what-might-good-ai-policy-look-four-principles-light-touch-approach-artificial-intelligence" TargetMode="External"/><Relationship Id="rId2" Type="http://schemas.openxmlformats.org/officeDocument/2006/relationships/image" Target="../media/image30.jpeg"/><Relationship Id="rId1" Type="http://schemas.openxmlformats.org/officeDocument/2006/relationships/slideLayout" Target="../slideLayouts/slideLayout36.xml"/><Relationship Id="rId4" Type="http://schemas.openxmlformats.org/officeDocument/2006/relationships/hyperlink" Target="https://creativecommons.org/licenses/by-nc-sa/3.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930708" y="2801929"/>
            <a:ext cx="8686801" cy="2565902"/>
          </a:xfrm>
        </p:spPr>
        <p:txBody>
          <a:bodyPr>
            <a:normAutofit/>
          </a:bodyPr>
          <a:lstStyle/>
          <a:p>
            <a:r>
              <a:rPr lang="en-US"/>
              <a:t>Bias in Ai</a:t>
            </a:r>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346090" y="1726269"/>
            <a:ext cx="4749910" cy="547908"/>
          </a:xfrm>
        </p:spPr>
        <p:txBody>
          <a:bodyPr>
            <a:normAutofit/>
          </a:bodyPr>
          <a:lstStyle/>
          <a:p>
            <a:r>
              <a:rPr lang="en-US"/>
              <a:t> Anna Wahl, Lukas Finch, Hannah Shane</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46C01-C2A7-4575-001E-255809627C8D}"/>
              </a:ext>
            </a:extLst>
          </p:cNvPr>
          <p:cNvSpPr>
            <a:spLocks noGrp="1"/>
          </p:cNvSpPr>
          <p:nvPr>
            <p:ph type="ctrTitle"/>
          </p:nvPr>
        </p:nvSpPr>
        <p:spPr/>
        <p:txBody>
          <a:bodyPr/>
          <a:lstStyle/>
          <a:p>
            <a:r>
              <a:rPr lang="en-US"/>
              <a:t>Activity Time</a:t>
            </a:r>
          </a:p>
        </p:txBody>
      </p:sp>
      <p:sp>
        <p:nvSpPr>
          <p:cNvPr id="3" name="Subtitle 2">
            <a:extLst>
              <a:ext uri="{FF2B5EF4-FFF2-40B4-BE49-F238E27FC236}">
                <a16:creationId xmlns:a16="http://schemas.microsoft.com/office/drawing/2014/main" id="{1D9A6611-CEAC-3512-9EF5-D6E3BC1F35FD}"/>
              </a:ext>
            </a:extLst>
          </p:cNvPr>
          <p:cNvSpPr>
            <a:spLocks noGrp="1"/>
          </p:cNvSpPr>
          <p:nvPr>
            <p:ph type="subTitle" idx="1"/>
          </p:nvPr>
        </p:nvSpPr>
        <p:spPr/>
        <p:txBody>
          <a:bodyPr vert="horz" lIns="91440" tIns="45720" rIns="91440" bIns="45720" rtlCol="0" anchor="t">
            <a:normAutofit/>
          </a:bodyPr>
          <a:lstStyle/>
          <a:p>
            <a:r>
              <a:rPr lang="en-US"/>
              <a:t>Describe the IDEAL candidate...</a:t>
            </a:r>
            <a:endParaRPr lang="en-US">
              <a:cs typeface="Poppins Light"/>
            </a:endParaRPr>
          </a:p>
        </p:txBody>
      </p:sp>
    </p:spTree>
    <p:extLst>
      <p:ext uri="{BB962C8B-B14F-4D97-AF65-F5344CB8AC3E}">
        <p14:creationId xmlns:p14="http://schemas.microsoft.com/office/powerpoint/2010/main" val="1706097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513DF-339D-A619-07E7-B5A1AA9F453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B72FE4-E8DC-C010-664D-711EDE1FB57B}"/>
              </a:ext>
            </a:extLst>
          </p:cNvPr>
          <p:cNvSpPr>
            <a:spLocks noGrp="1"/>
          </p:cNvSpPr>
          <p:nvPr>
            <p:ph type="ctrTitle"/>
          </p:nvPr>
        </p:nvSpPr>
        <p:spPr/>
        <p:txBody>
          <a:bodyPr/>
          <a:lstStyle/>
          <a:p>
            <a:endParaRPr lang="en-US"/>
          </a:p>
        </p:txBody>
      </p:sp>
      <p:pic>
        <p:nvPicPr>
          <p:cNvPr id="8" name="Picture 7" descr="David W. Person — Hand &amp; Upper Extremity Center of San Antonio">
            <a:extLst>
              <a:ext uri="{FF2B5EF4-FFF2-40B4-BE49-F238E27FC236}">
                <a16:creationId xmlns:a16="http://schemas.microsoft.com/office/drawing/2014/main" id="{843C716E-ACF8-B331-2FD9-EB31753F3D95}"/>
              </a:ext>
            </a:extLst>
          </p:cNvPr>
          <p:cNvPicPr>
            <a:picLocks noChangeAspect="1"/>
          </p:cNvPicPr>
          <p:nvPr/>
        </p:nvPicPr>
        <p:blipFill>
          <a:blip r:embed="rId2"/>
          <a:stretch>
            <a:fillRect/>
          </a:stretch>
        </p:blipFill>
        <p:spPr>
          <a:xfrm>
            <a:off x="0" y="-1"/>
            <a:ext cx="2738783" cy="4064000"/>
          </a:xfrm>
          <a:prstGeom prst="rect">
            <a:avLst/>
          </a:prstGeom>
        </p:spPr>
      </p:pic>
      <p:pic>
        <p:nvPicPr>
          <p:cNvPr id="10" name="Picture 9" descr="A person with long hair wearing a white shirt&#10;&#10;AI-generated content may be incorrect.">
            <a:extLst>
              <a:ext uri="{FF2B5EF4-FFF2-40B4-BE49-F238E27FC236}">
                <a16:creationId xmlns:a16="http://schemas.microsoft.com/office/drawing/2014/main" id="{B3D71392-0953-4CB8-8A3B-0DF9809EE8EC}"/>
              </a:ext>
            </a:extLst>
          </p:cNvPr>
          <p:cNvPicPr>
            <a:picLocks noChangeAspect="1"/>
          </p:cNvPicPr>
          <p:nvPr/>
        </p:nvPicPr>
        <p:blipFill>
          <a:blip r:embed="rId3"/>
          <a:srcRect l="-83" t="4076" r="-406" b="167"/>
          <a:stretch>
            <a:fillRect/>
          </a:stretch>
        </p:blipFill>
        <p:spPr>
          <a:xfrm>
            <a:off x="2739473" y="0"/>
            <a:ext cx="3377691" cy="4068258"/>
          </a:xfrm>
          <a:prstGeom prst="rect">
            <a:avLst/>
          </a:prstGeom>
        </p:spPr>
      </p:pic>
      <p:pic>
        <p:nvPicPr>
          <p:cNvPr id="13" name="Picture 12" descr="grayscale photo of woman wearing necklace and top">
            <a:extLst>
              <a:ext uri="{FF2B5EF4-FFF2-40B4-BE49-F238E27FC236}">
                <a16:creationId xmlns:a16="http://schemas.microsoft.com/office/drawing/2014/main" id="{10639DFB-0990-17E1-3BD0-EA7F240BC880}"/>
              </a:ext>
            </a:extLst>
          </p:cNvPr>
          <p:cNvPicPr>
            <a:picLocks noChangeAspect="1"/>
          </p:cNvPicPr>
          <p:nvPr/>
        </p:nvPicPr>
        <p:blipFill>
          <a:blip r:embed="rId4"/>
          <a:srcRect l="14724" t="2268" r="15337"/>
          <a:stretch>
            <a:fillRect/>
          </a:stretch>
        </p:blipFill>
        <p:spPr>
          <a:xfrm>
            <a:off x="5655289" y="-13694"/>
            <a:ext cx="3783157" cy="4066654"/>
          </a:xfrm>
          <a:prstGeom prst="rect">
            <a:avLst/>
          </a:prstGeom>
        </p:spPr>
      </p:pic>
      <p:pic>
        <p:nvPicPr>
          <p:cNvPr id="14" name="Picture 13" descr="A person in a white shirt&#10;&#10;AI-generated content may be incorrect.">
            <a:extLst>
              <a:ext uri="{FF2B5EF4-FFF2-40B4-BE49-F238E27FC236}">
                <a16:creationId xmlns:a16="http://schemas.microsoft.com/office/drawing/2014/main" id="{8832D658-F18E-C321-7873-0EB723CDEE44}"/>
              </a:ext>
            </a:extLst>
          </p:cNvPr>
          <p:cNvPicPr>
            <a:picLocks noChangeAspect="1"/>
          </p:cNvPicPr>
          <p:nvPr/>
        </p:nvPicPr>
        <p:blipFill>
          <a:blip r:embed="rId5"/>
          <a:stretch>
            <a:fillRect/>
          </a:stretch>
        </p:blipFill>
        <p:spPr>
          <a:xfrm>
            <a:off x="8787571" y="1104"/>
            <a:ext cx="3407466" cy="4072835"/>
          </a:xfrm>
          <a:prstGeom prst="rect">
            <a:avLst/>
          </a:prstGeom>
        </p:spPr>
      </p:pic>
      <p:pic>
        <p:nvPicPr>
          <p:cNvPr id="15" name="Picture 14" descr="A person in a striped shirt&#10;&#10;AI-generated content may be incorrect.">
            <a:extLst>
              <a:ext uri="{FF2B5EF4-FFF2-40B4-BE49-F238E27FC236}">
                <a16:creationId xmlns:a16="http://schemas.microsoft.com/office/drawing/2014/main" id="{DA233492-30DE-3973-0851-9F27C1F19F4F}"/>
              </a:ext>
            </a:extLst>
          </p:cNvPr>
          <p:cNvPicPr>
            <a:picLocks noChangeAspect="1"/>
          </p:cNvPicPr>
          <p:nvPr/>
        </p:nvPicPr>
        <p:blipFill>
          <a:blip r:embed="rId6"/>
          <a:stretch>
            <a:fillRect/>
          </a:stretch>
        </p:blipFill>
        <p:spPr>
          <a:xfrm>
            <a:off x="1657" y="3567250"/>
            <a:ext cx="3398079" cy="3290542"/>
          </a:xfrm>
          <a:prstGeom prst="rect">
            <a:avLst/>
          </a:prstGeom>
        </p:spPr>
      </p:pic>
      <p:pic>
        <p:nvPicPr>
          <p:cNvPr id="16" name="Picture 15" descr="A person with curly hair smiling&#10;&#10;AI-generated content may be incorrect.">
            <a:extLst>
              <a:ext uri="{FF2B5EF4-FFF2-40B4-BE49-F238E27FC236}">
                <a16:creationId xmlns:a16="http://schemas.microsoft.com/office/drawing/2014/main" id="{07A7C4A5-BF02-62A3-8E6C-07A63E3C863C}"/>
              </a:ext>
            </a:extLst>
          </p:cNvPr>
          <p:cNvPicPr>
            <a:picLocks noChangeAspect="1"/>
          </p:cNvPicPr>
          <p:nvPr/>
        </p:nvPicPr>
        <p:blipFill>
          <a:blip r:embed="rId7"/>
          <a:stretch>
            <a:fillRect/>
          </a:stretch>
        </p:blipFill>
        <p:spPr>
          <a:xfrm>
            <a:off x="9345819" y="3571183"/>
            <a:ext cx="2854187" cy="3282676"/>
          </a:xfrm>
          <a:prstGeom prst="rect">
            <a:avLst/>
          </a:prstGeom>
        </p:spPr>
      </p:pic>
      <p:pic>
        <p:nvPicPr>
          <p:cNvPr id="17" name="Picture 16" descr="A person in a vest and tie&#10;&#10;AI-generated content may be incorrect.">
            <a:extLst>
              <a:ext uri="{FF2B5EF4-FFF2-40B4-BE49-F238E27FC236}">
                <a16:creationId xmlns:a16="http://schemas.microsoft.com/office/drawing/2014/main" id="{A055A751-FBF7-3D55-D07F-5CE0961AF944}"/>
              </a:ext>
            </a:extLst>
          </p:cNvPr>
          <p:cNvPicPr>
            <a:picLocks noChangeAspect="1"/>
          </p:cNvPicPr>
          <p:nvPr/>
        </p:nvPicPr>
        <p:blipFill>
          <a:blip r:embed="rId8"/>
          <a:stretch>
            <a:fillRect/>
          </a:stretch>
        </p:blipFill>
        <p:spPr>
          <a:xfrm>
            <a:off x="3391866" y="3570838"/>
            <a:ext cx="3243747" cy="3283365"/>
          </a:xfrm>
          <a:prstGeom prst="rect">
            <a:avLst/>
          </a:prstGeom>
        </p:spPr>
      </p:pic>
      <p:pic>
        <p:nvPicPr>
          <p:cNvPr id="18" name="Picture 17" descr="A person looking up to the side&#10;&#10;AI-generated content may be incorrect.">
            <a:extLst>
              <a:ext uri="{FF2B5EF4-FFF2-40B4-BE49-F238E27FC236}">
                <a16:creationId xmlns:a16="http://schemas.microsoft.com/office/drawing/2014/main" id="{1B72E418-1E71-00B0-A787-10F22CE8E4DC}"/>
              </a:ext>
            </a:extLst>
          </p:cNvPr>
          <p:cNvPicPr>
            <a:picLocks noChangeAspect="1"/>
          </p:cNvPicPr>
          <p:nvPr/>
        </p:nvPicPr>
        <p:blipFill>
          <a:blip r:embed="rId9"/>
          <a:stretch>
            <a:fillRect/>
          </a:stretch>
        </p:blipFill>
        <p:spPr>
          <a:xfrm>
            <a:off x="6362768" y="3575463"/>
            <a:ext cx="3077680" cy="3296203"/>
          </a:xfrm>
          <a:prstGeom prst="rect">
            <a:avLst/>
          </a:prstGeom>
        </p:spPr>
      </p:pic>
    </p:spTree>
    <p:extLst>
      <p:ext uri="{BB962C8B-B14F-4D97-AF65-F5344CB8AC3E}">
        <p14:creationId xmlns:p14="http://schemas.microsoft.com/office/powerpoint/2010/main" val="2847041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7FCA-8176-3A56-B40B-2BEC47F6421F}"/>
              </a:ext>
            </a:extLst>
          </p:cNvPr>
          <p:cNvSpPr>
            <a:spLocks noGrp="1"/>
          </p:cNvSpPr>
          <p:nvPr>
            <p:ph type="ctrTitle"/>
          </p:nvPr>
        </p:nvSpPr>
        <p:spPr>
          <a:xfrm>
            <a:off x="648323" y="990601"/>
            <a:ext cx="10980806" cy="3750700"/>
          </a:xfrm>
        </p:spPr>
        <p:txBody>
          <a:bodyPr/>
          <a:lstStyle/>
          <a:p>
            <a:r>
              <a:rPr lang="en-US">
                <a:ea typeface="+mj-lt"/>
                <a:cs typeface="+mj-lt"/>
              </a:rPr>
              <a:t>Bias in the ML pipeline (the </a:t>
            </a:r>
            <a:r>
              <a:rPr lang="en-US" i="1">
                <a:ea typeface="+mj-lt"/>
                <a:cs typeface="+mj-lt"/>
              </a:rPr>
              <a:t>technical</a:t>
            </a:r>
            <a:r>
              <a:rPr lang="en-US">
                <a:ea typeface="+mj-lt"/>
                <a:cs typeface="+mj-lt"/>
              </a:rPr>
              <a:t> problem)</a:t>
            </a:r>
            <a:endParaRPr lang="en-US"/>
          </a:p>
        </p:txBody>
      </p:sp>
    </p:spTree>
    <p:extLst>
      <p:ext uri="{BB962C8B-B14F-4D97-AF65-F5344CB8AC3E}">
        <p14:creationId xmlns:p14="http://schemas.microsoft.com/office/powerpoint/2010/main" val="3691244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6A89-66D0-C36E-1C08-6952D7641B9A}"/>
              </a:ext>
            </a:extLst>
          </p:cNvPr>
          <p:cNvSpPr>
            <a:spLocks noGrp="1"/>
          </p:cNvSpPr>
          <p:nvPr>
            <p:ph type="title"/>
          </p:nvPr>
        </p:nvSpPr>
        <p:spPr/>
        <p:txBody>
          <a:bodyPr/>
          <a:lstStyle/>
          <a:p>
            <a:r>
              <a:rPr lang="en-US">
                <a:ea typeface="+mj-lt"/>
                <a:cs typeface="+mj-lt"/>
              </a:rPr>
              <a:t>Stage 1: Data Collection </a:t>
            </a:r>
          </a:p>
        </p:txBody>
      </p:sp>
      <p:pic>
        <p:nvPicPr>
          <p:cNvPr id="6" name="Picture Placeholder 5">
            <a:extLst>
              <a:ext uri="{FF2B5EF4-FFF2-40B4-BE49-F238E27FC236}">
                <a16:creationId xmlns:a16="http://schemas.microsoft.com/office/drawing/2014/main" id="{FB5050F0-16E9-57F7-B61E-DA7DF0368E20}"/>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774" r="21774"/>
          <a:stretch>
            <a:fillRect/>
          </a:stretch>
        </p:blipFill>
        <p:spPr/>
      </p:pic>
      <p:sp>
        <p:nvSpPr>
          <p:cNvPr id="4" name="Content Placeholder 3">
            <a:extLst>
              <a:ext uri="{FF2B5EF4-FFF2-40B4-BE49-F238E27FC236}">
                <a16:creationId xmlns:a16="http://schemas.microsoft.com/office/drawing/2014/main" id="{FF5F5F85-D07E-7A34-C995-3A09800426C3}"/>
              </a:ext>
            </a:extLst>
          </p:cNvPr>
          <p:cNvSpPr>
            <a:spLocks noGrp="1"/>
          </p:cNvSpPr>
          <p:nvPr>
            <p:ph sz="quarter" idx="14"/>
          </p:nvPr>
        </p:nvSpPr>
        <p:spPr/>
        <p:txBody>
          <a:bodyPr vert="horz" lIns="91440" tIns="45720" rIns="91440" bIns="45720" rtlCol="0" anchor="t">
            <a:normAutofit/>
          </a:bodyPr>
          <a:lstStyle/>
          <a:p>
            <a:pPr marL="0" indent="0">
              <a:buNone/>
            </a:pPr>
            <a:r>
              <a:rPr lang="en-US" b="1">
                <a:cs typeface="Poppins Light"/>
              </a:rPr>
              <a:t>The Core Problem </a:t>
            </a:r>
            <a:r>
              <a:rPr lang="en-US">
                <a:cs typeface="Poppins Light"/>
              </a:rPr>
              <a:t>– The world is not equally documented</a:t>
            </a:r>
          </a:p>
          <a:p>
            <a:r>
              <a:rPr lang="en-US">
                <a:cs typeface="Poppins Light"/>
              </a:rPr>
              <a:t>Three types of Data Collection:</a:t>
            </a:r>
          </a:p>
          <a:p>
            <a:r>
              <a:rPr lang="en-US" b="1">
                <a:ea typeface="+mn-lt"/>
                <a:cs typeface="+mn-lt"/>
              </a:rPr>
              <a:t>Sampling bias – </a:t>
            </a:r>
            <a:r>
              <a:rPr lang="en-US">
                <a:ea typeface="+mn-lt"/>
                <a:cs typeface="+mn-lt"/>
              </a:rPr>
              <a:t>your dataset doesn’t reflect the real population.</a:t>
            </a:r>
            <a:endParaRPr lang="en-US">
              <a:cs typeface="Poppins Light"/>
            </a:endParaRPr>
          </a:p>
          <a:p>
            <a:r>
              <a:rPr lang="en-US" b="1">
                <a:cs typeface="Poppins Light"/>
              </a:rPr>
              <a:t>Exclusion bias </a:t>
            </a:r>
            <a:r>
              <a:rPr lang="en-US">
                <a:cs typeface="Poppins Light"/>
              </a:rPr>
              <a:t>– certain groups were never included.</a:t>
            </a:r>
          </a:p>
          <a:p>
            <a:r>
              <a:rPr lang="en-US" b="1">
                <a:cs typeface="Poppins Light"/>
              </a:rPr>
              <a:t>Survivorship bias</a:t>
            </a:r>
            <a:r>
              <a:rPr lang="en-US">
                <a:cs typeface="Poppins Light"/>
              </a:rPr>
              <a:t> – you only have data on people who made it through the process. </a:t>
            </a:r>
          </a:p>
          <a:p>
            <a:r>
              <a:rPr lang="en-US" b="1">
                <a:cs typeface="Poppins Light"/>
              </a:rPr>
              <a:t>The Subtle Danger</a:t>
            </a:r>
          </a:p>
        </p:txBody>
      </p:sp>
      <p:sp>
        <p:nvSpPr>
          <p:cNvPr id="7" name="TextBox 6">
            <a:extLst>
              <a:ext uri="{FF2B5EF4-FFF2-40B4-BE49-F238E27FC236}">
                <a16:creationId xmlns:a16="http://schemas.microsoft.com/office/drawing/2014/main" id="{61241CA9-9516-9869-7A39-7F4FCC9A1085}"/>
              </a:ext>
            </a:extLst>
          </p:cNvPr>
          <p:cNvSpPr txBox="1"/>
          <p:nvPr/>
        </p:nvSpPr>
        <p:spPr>
          <a:xfrm>
            <a:off x="898331" y="6020318"/>
            <a:ext cx="3975817" cy="230832"/>
          </a:xfrm>
          <a:prstGeom prst="rect">
            <a:avLst/>
          </a:prstGeom>
          <a:noFill/>
        </p:spPr>
        <p:txBody>
          <a:bodyPr wrap="square" rtlCol="0">
            <a:spAutoFit/>
          </a:bodyPr>
          <a:lstStyle/>
          <a:p>
            <a:r>
              <a:rPr lang="en-US" sz="900">
                <a:hlinkClick r:id="rId3" tooltip="https://technofaq.org/posts/2019/07/targeting-data-collection-are-major-keys/"/>
              </a:rPr>
              <a:t>This Photo</a:t>
            </a:r>
            <a:r>
              <a:rPr lang="en-US" sz="900"/>
              <a:t> by Unknown Author is licensed under </a:t>
            </a:r>
            <a:r>
              <a:rPr lang="en-US" sz="900">
                <a:hlinkClick r:id="rId4" tooltip="https://creativecommons.org/licenses/by-nc-sa/3.0/"/>
              </a:rPr>
              <a:t>CC BY-SA-NC</a:t>
            </a:r>
            <a:endParaRPr lang="en-US" sz="900"/>
          </a:p>
        </p:txBody>
      </p:sp>
    </p:spTree>
    <p:extLst>
      <p:ext uri="{BB962C8B-B14F-4D97-AF65-F5344CB8AC3E}">
        <p14:creationId xmlns:p14="http://schemas.microsoft.com/office/powerpoint/2010/main" val="411699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E98DB-CDA9-30EC-5B28-48D6B8D5A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6F862-20C0-AFE1-5412-15201E457A94}"/>
              </a:ext>
            </a:extLst>
          </p:cNvPr>
          <p:cNvSpPr>
            <a:spLocks noGrp="1"/>
          </p:cNvSpPr>
          <p:nvPr>
            <p:ph type="title"/>
          </p:nvPr>
        </p:nvSpPr>
        <p:spPr>
          <a:xfrm>
            <a:off x="612646" y="137160"/>
            <a:ext cx="10972802" cy="1436807"/>
          </a:xfrm>
        </p:spPr>
        <p:txBody>
          <a:bodyPr/>
          <a:lstStyle/>
          <a:p>
            <a:r>
              <a:rPr lang="en-US">
                <a:ea typeface="+mj-lt"/>
                <a:cs typeface="+mj-lt"/>
              </a:rPr>
              <a:t>Stage 2: Data labeling/Annotation</a:t>
            </a:r>
          </a:p>
        </p:txBody>
      </p:sp>
      <p:sp>
        <p:nvSpPr>
          <p:cNvPr id="4" name="Content Placeholder 3">
            <a:extLst>
              <a:ext uri="{FF2B5EF4-FFF2-40B4-BE49-F238E27FC236}">
                <a16:creationId xmlns:a16="http://schemas.microsoft.com/office/drawing/2014/main" id="{CDA6C9A8-2973-1A45-6A40-2A58F820B632}"/>
              </a:ext>
            </a:extLst>
          </p:cNvPr>
          <p:cNvSpPr>
            <a:spLocks noGrp="1"/>
          </p:cNvSpPr>
          <p:nvPr>
            <p:ph sz="quarter" idx="14"/>
          </p:nvPr>
        </p:nvSpPr>
        <p:spPr/>
        <p:txBody>
          <a:bodyPr vert="horz" lIns="91440" tIns="45720" rIns="91440" bIns="45720" rtlCol="0" anchor="t">
            <a:normAutofit/>
          </a:bodyPr>
          <a:lstStyle/>
          <a:p>
            <a:pPr marL="0" indent="0">
              <a:buNone/>
            </a:pPr>
            <a:r>
              <a:rPr lang="en-US" b="1">
                <a:cs typeface="Poppins Light"/>
              </a:rPr>
              <a:t>The Core Problem </a:t>
            </a:r>
            <a:r>
              <a:rPr lang="en-US">
                <a:cs typeface="Poppins Light"/>
              </a:rPr>
              <a:t>– Supervised Learning depends on labels.</a:t>
            </a:r>
          </a:p>
          <a:p>
            <a:r>
              <a:rPr lang="en-US" b="1">
                <a:ea typeface="+mn-lt"/>
                <a:cs typeface="+mn-lt"/>
              </a:rPr>
              <a:t>Crowdsourced annotation – </a:t>
            </a:r>
            <a:r>
              <a:rPr lang="en-US">
                <a:ea typeface="+mn-lt"/>
                <a:cs typeface="+mn-lt"/>
              </a:rPr>
              <a:t>drawing from a non-representative pool of workers.</a:t>
            </a:r>
            <a:endParaRPr lang="en-US">
              <a:cs typeface="Poppins Light"/>
            </a:endParaRPr>
          </a:p>
          <a:p>
            <a:r>
              <a:rPr lang="en-US" b="1">
                <a:cs typeface="Poppins Light"/>
              </a:rPr>
              <a:t>Subjectivity compounds at scale</a:t>
            </a:r>
            <a:r>
              <a:rPr lang="en-US">
                <a:cs typeface="Poppins Light"/>
              </a:rPr>
              <a:t>– one annotator’s bias is noise. </a:t>
            </a:r>
          </a:p>
          <a:p>
            <a:r>
              <a:rPr lang="en-US" b="1">
                <a:cs typeface="Poppins Light"/>
              </a:rPr>
              <a:t>Label smuggling</a:t>
            </a:r>
            <a:r>
              <a:rPr lang="en-US">
                <a:cs typeface="Poppins Light"/>
              </a:rPr>
              <a:t> – bias can hide inside seemingly objective labels.  </a:t>
            </a:r>
          </a:p>
          <a:p>
            <a:r>
              <a:rPr lang="en-US" b="1">
                <a:cs typeface="Poppins Light"/>
              </a:rPr>
              <a:t>The Key Insight – </a:t>
            </a:r>
            <a:r>
              <a:rPr lang="en-US">
                <a:cs typeface="Poppins Light"/>
              </a:rPr>
              <a:t>whatever the annotator believes, the model will learn. </a:t>
            </a:r>
            <a:endParaRPr lang="en-US" b="1">
              <a:cs typeface="Poppins Light"/>
            </a:endParaRPr>
          </a:p>
          <a:p>
            <a:endParaRPr lang="en-US">
              <a:cs typeface="Poppins Light"/>
            </a:endParaRPr>
          </a:p>
        </p:txBody>
      </p:sp>
      <p:pic>
        <p:nvPicPr>
          <p:cNvPr id="23" name="Picture Placeholder 22">
            <a:extLst>
              <a:ext uri="{FF2B5EF4-FFF2-40B4-BE49-F238E27FC236}">
                <a16:creationId xmlns:a16="http://schemas.microsoft.com/office/drawing/2014/main" id="{8AE410C2-3860-F27B-CD05-A2F413D2ADAB}"/>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3750" r="23750"/>
          <a:stretch>
            <a:fillRect/>
          </a:stretch>
        </p:blipFill>
        <p:spPr/>
      </p:pic>
    </p:spTree>
    <p:extLst>
      <p:ext uri="{BB962C8B-B14F-4D97-AF65-F5344CB8AC3E}">
        <p14:creationId xmlns:p14="http://schemas.microsoft.com/office/powerpoint/2010/main" val="1148588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61326-06D7-ACFD-7234-4E9F625DE3F2}"/>
              </a:ext>
            </a:extLst>
          </p:cNvPr>
          <p:cNvSpPr>
            <a:spLocks noGrp="1"/>
          </p:cNvSpPr>
          <p:nvPr>
            <p:ph type="title"/>
          </p:nvPr>
        </p:nvSpPr>
        <p:spPr/>
        <p:txBody>
          <a:bodyPr/>
          <a:lstStyle/>
          <a:p>
            <a:r>
              <a:rPr lang="en-US"/>
              <a:t>Stage 3: Feature Selection</a:t>
            </a:r>
          </a:p>
        </p:txBody>
      </p:sp>
      <p:sp>
        <p:nvSpPr>
          <p:cNvPr id="3" name="Text Placeholder 2">
            <a:extLst>
              <a:ext uri="{FF2B5EF4-FFF2-40B4-BE49-F238E27FC236}">
                <a16:creationId xmlns:a16="http://schemas.microsoft.com/office/drawing/2014/main" id="{F6D99DDC-F6F6-ED86-FC6D-4393BD0AE91E}"/>
              </a:ext>
            </a:extLst>
          </p:cNvPr>
          <p:cNvSpPr>
            <a:spLocks noGrp="1"/>
          </p:cNvSpPr>
          <p:nvPr>
            <p:ph type="body" sz="half" idx="2"/>
          </p:nvPr>
        </p:nvSpPr>
        <p:spPr/>
        <p:txBody>
          <a:bodyPr/>
          <a:lstStyle/>
          <a:p>
            <a:pPr marL="285750" indent="-285750">
              <a:buFont typeface="Arial" panose="020B0604020202020204" pitchFamily="34" charset="0"/>
              <a:buChar char="•"/>
            </a:pPr>
            <a:r>
              <a:rPr lang="en-US" b="1"/>
              <a:t>Core Issue</a:t>
            </a:r>
            <a:r>
              <a:rPr lang="en-US"/>
              <a:t> – you don’t need to include a protected attribute like race or gender to discriminate. </a:t>
            </a:r>
          </a:p>
          <a:p>
            <a:pPr marL="285750" indent="-285750">
              <a:buFont typeface="Arial" panose="020B0604020202020204" pitchFamily="34" charset="0"/>
              <a:buChar char="•"/>
            </a:pPr>
            <a:r>
              <a:rPr lang="en-US" b="1"/>
              <a:t>Classic Examples include: </a:t>
            </a:r>
          </a:p>
          <a:p>
            <a:pPr marL="285750" indent="-285750">
              <a:buFont typeface="Arial" panose="020B0604020202020204" pitchFamily="34" charset="0"/>
              <a:buChar char="•"/>
            </a:pPr>
            <a:r>
              <a:rPr lang="en-US"/>
              <a:t>Zip Code</a:t>
            </a:r>
          </a:p>
          <a:p>
            <a:pPr marL="285750" indent="-285750">
              <a:buFont typeface="Arial" panose="020B0604020202020204" pitchFamily="34" charset="0"/>
              <a:buChar char="•"/>
            </a:pPr>
            <a:r>
              <a:rPr lang="en-US"/>
              <a:t>Name</a:t>
            </a:r>
          </a:p>
          <a:p>
            <a:pPr marL="285750" indent="-285750">
              <a:buFont typeface="Arial" panose="020B0604020202020204" pitchFamily="34" charset="0"/>
              <a:buChar char="•"/>
            </a:pPr>
            <a:r>
              <a:rPr lang="en-US"/>
              <a:t>College attended</a:t>
            </a:r>
          </a:p>
          <a:p>
            <a:pPr marL="285750" indent="-285750">
              <a:buFont typeface="Arial" panose="020B0604020202020204" pitchFamily="34" charset="0"/>
              <a:buChar char="•"/>
            </a:pPr>
            <a:r>
              <a:rPr lang="en-US" b="1"/>
              <a:t>The deeper technical issue (redundant encoding)</a:t>
            </a:r>
          </a:p>
          <a:p>
            <a:pPr marL="285750" indent="-285750">
              <a:buFont typeface="Arial" panose="020B0604020202020204" pitchFamily="34" charset="0"/>
              <a:buChar char="•"/>
            </a:pPr>
            <a:endParaRPr lang="en-US" b="1"/>
          </a:p>
        </p:txBody>
      </p:sp>
      <p:pic>
        <p:nvPicPr>
          <p:cNvPr id="6" name="Picture Placeholder 5">
            <a:extLst>
              <a:ext uri="{FF2B5EF4-FFF2-40B4-BE49-F238E27FC236}">
                <a16:creationId xmlns:a16="http://schemas.microsoft.com/office/drawing/2014/main" id="{4F113E8B-BD99-4779-65D7-70E43E9B1AFC}"/>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862" r="21862"/>
          <a:stretch>
            <a:fillRect/>
          </a:stretch>
        </p:blipFill>
        <p:spPr/>
      </p:pic>
    </p:spTree>
    <p:extLst>
      <p:ext uri="{BB962C8B-B14F-4D97-AF65-F5344CB8AC3E}">
        <p14:creationId xmlns:p14="http://schemas.microsoft.com/office/powerpoint/2010/main" val="3219135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D1EA8-FCBF-1323-AB2B-AB59FCAA3674}"/>
              </a:ext>
            </a:extLst>
          </p:cNvPr>
          <p:cNvSpPr>
            <a:spLocks noGrp="1"/>
          </p:cNvSpPr>
          <p:nvPr>
            <p:ph type="title"/>
          </p:nvPr>
        </p:nvSpPr>
        <p:spPr/>
        <p:txBody>
          <a:bodyPr/>
          <a:lstStyle/>
          <a:p>
            <a:r>
              <a:rPr lang="en-US"/>
              <a:t>Stage 4: Model Training</a:t>
            </a:r>
          </a:p>
        </p:txBody>
      </p:sp>
      <p:sp>
        <p:nvSpPr>
          <p:cNvPr id="3" name="Text Placeholder 2">
            <a:extLst>
              <a:ext uri="{FF2B5EF4-FFF2-40B4-BE49-F238E27FC236}">
                <a16:creationId xmlns:a16="http://schemas.microsoft.com/office/drawing/2014/main" id="{BECC048D-9A63-DCF4-095D-35C8A11CB298}"/>
              </a:ext>
            </a:extLst>
          </p:cNvPr>
          <p:cNvSpPr>
            <a:spLocks noGrp="1"/>
          </p:cNvSpPr>
          <p:nvPr>
            <p:ph type="body" sz="half" idx="2"/>
          </p:nvPr>
        </p:nvSpPr>
        <p:spPr/>
        <p:txBody>
          <a:bodyPr/>
          <a:lstStyle/>
          <a:p>
            <a:pPr marL="285750" indent="-285750">
              <a:buFont typeface="Arial" panose="020B0604020202020204" pitchFamily="34" charset="0"/>
              <a:buChar char="•"/>
            </a:pPr>
            <a:r>
              <a:rPr lang="en-US" b="1"/>
              <a:t>Core Problem</a:t>
            </a:r>
            <a:r>
              <a:rPr lang="en-US"/>
              <a:t> – most loss functions optimize for overall accuracy. </a:t>
            </a:r>
          </a:p>
          <a:p>
            <a:pPr marL="285750" indent="-285750">
              <a:buFont typeface="Arial" panose="020B0604020202020204" pitchFamily="34" charset="0"/>
              <a:buChar char="•"/>
            </a:pPr>
            <a:r>
              <a:rPr lang="en-US" b="1"/>
              <a:t>Key mechanisms: </a:t>
            </a:r>
          </a:p>
          <a:p>
            <a:pPr marL="285750" indent="-285750">
              <a:buFont typeface="Arial" panose="020B0604020202020204" pitchFamily="34" charset="0"/>
              <a:buChar char="•"/>
            </a:pPr>
            <a:r>
              <a:rPr lang="en-US"/>
              <a:t>Class imbalance</a:t>
            </a:r>
          </a:p>
          <a:p>
            <a:pPr marL="285750" indent="-285750">
              <a:buFont typeface="Arial" panose="020B0604020202020204" pitchFamily="34" charset="0"/>
              <a:buChar char="•"/>
            </a:pPr>
            <a:r>
              <a:rPr lang="en-US"/>
              <a:t>Majority Group optimization</a:t>
            </a:r>
          </a:p>
          <a:p>
            <a:pPr marL="285750" indent="-285750">
              <a:buFont typeface="Arial" panose="020B0604020202020204" pitchFamily="34" charset="0"/>
              <a:buChar char="•"/>
            </a:pPr>
            <a:r>
              <a:rPr lang="en-US"/>
              <a:t>Spurious correlations </a:t>
            </a:r>
          </a:p>
          <a:p>
            <a:pPr marL="285750" indent="-285750">
              <a:buFont typeface="Arial" panose="020B0604020202020204" pitchFamily="34" charset="0"/>
              <a:buChar char="•"/>
            </a:pPr>
            <a:endParaRPr lang="en-US" b="1">
              <a:cs typeface="Poppins Light"/>
            </a:endParaRPr>
          </a:p>
          <a:p>
            <a:pPr marL="285750" indent="-285750">
              <a:buFont typeface="Arial" panose="020B0604020202020204" pitchFamily="34" charset="0"/>
              <a:buChar char="•"/>
            </a:pPr>
            <a:endParaRPr lang="en-US" b="1"/>
          </a:p>
          <a:p>
            <a:endParaRPr lang="en-US"/>
          </a:p>
        </p:txBody>
      </p:sp>
      <p:pic>
        <p:nvPicPr>
          <p:cNvPr id="13" name="Picture Placeholder 12">
            <a:extLst>
              <a:ext uri="{FF2B5EF4-FFF2-40B4-BE49-F238E27FC236}">
                <a16:creationId xmlns:a16="http://schemas.microsoft.com/office/drawing/2014/main" id="{D1BBD961-4050-E06E-7A5C-32E342EFDC8F}"/>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6664" r="16664"/>
          <a:stretch>
            <a:fillRect/>
          </a:stretch>
        </p:blipFill>
        <p:spPr/>
      </p:pic>
      <p:sp>
        <p:nvSpPr>
          <p:cNvPr id="14" name="TextBox 13">
            <a:extLst>
              <a:ext uri="{FF2B5EF4-FFF2-40B4-BE49-F238E27FC236}">
                <a16:creationId xmlns:a16="http://schemas.microsoft.com/office/drawing/2014/main" id="{519AF971-E89C-9925-CCB1-374F68FAC5E3}"/>
              </a:ext>
            </a:extLst>
          </p:cNvPr>
          <p:cNvSpPr txBox="1"/>
          <p:nvPr/>
        </p:nvSpPr>
        <p:spPr>
          <a:xfrm>
            <a:off x="7591763" y="5888120"/>
            <a:ext cx="3572426" cy="369332"/>
          </a:xfrm>
          <a:prstGeom prst="rect">
            <a:avLst/>
          </a:prstGeom>
          <a:noFill/>
        </p:spPr>
        <p:txBody>
          <a:bodyPr wrap="square" rtlCol="0">
            <a:spAutoFit/>
          </a:bodyPr>
          <a:lstStyle/>
          <a:p>
            <a:r>
              <a:rPr lang="en-US" sz="900">
                <a:hlinkClick r:id="rId3" tooltip="https://www.cato.org/blog/what-might-good-ai-policy-look-four-principles-light-touch-approach-artificial-intelligence"/>
              </a:rPr>
              <a:t>This Photo</a:t>
            </a:r>
            <a:r>
              <a:rPr lang="en-US" sz="900"/>
              <a:t> by Unknown Author is licensed under </a:t>
            </a:r>
            <a:r>
              <a:rPr lang="en-US" sz="900">
                <a:hlinkClick r:id="rId4" tooltip="https://creativecommons.org/licenses/by-nc-sa/3.0/"/>
              </a:rPr>
              <a:t>CC BY-SA-NC</a:t>
            </a:r>
            <a:endParaRPr lang="en-US" sz="900"/>
          </a:p>
        </p:txBody>
      </p:sp>
    </p:spTree>
    <p:extLst>
      <p:ext uri="{BB962C8B-B14F-4D97-AF65-F5344CB8AC3E}">
        <p14:creationId xmlns:p14="http://schemas.microsoft.com/office/powerpoint/2010/main" val="341828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0A532-2C17-173D-031D-335B140B2F4E}"/>
              </a:ext>
            </a:extLst>
          </p:cNvPr>
          <p:cNvSpPr>
            <a:spLocks noGrp="1"/>
          </p:cNvSpPr>
          <p:nvPr>
            <p:ph type="title"/>
          </p:nvPr>
        </p:nvSpPr>
        <p:spPr/>
        <p:txBody>
          <a:bodyPr/>
          <a:lstStyle/>
          <a:p>
            <a:r>
              <a:rPr lang="en-US"/>
              <a:t>Stage 5: evaluation</a:t>
            </a:r>
          </a:p>
        </p:txBody>
      </p:sp>
      <p:sp>
        <p:nvSpPr>
          <p:cNvPr id="3" name="Content Placeholder 2">
            <a:extLst>
              <a:ext uri="{FF2B5EF4-FFF2-40B4-BE49-F238E27FC236}">
                <a16:creationId xmlns:a16="http://schemas.microsoft.com/office/drawing/2014/main" id="{07BC5689-43FC-A54C-F031-F86A445BACCF}"/>
              </a:ext>
            </a:extLst>
          </p:cNvPr>
          <p:cNvSpPr>
            <a:spLocks noGrp="1"/>
          </p:cNvSpPr>
          <p:nvPr>
            <p:ph idx="1"/>
          </p:nvPr>
        </p:nvSpPr>
        <p:spPr/>
        <p:txBody>
          <a:bodyPr/>
          <a:lstStyle/>
          <a:p>
            <a:r>
              <a:rPr lang="en-US" b="1"/>
              <a:t>Core problem</a:t>
            </a:r>
            <a:r>
              <a:rPr lang="en-US"/>
              <a:t> – if you test your model on the same imbalanced data it trained on, it will look like it works great.</a:t>
            </a:r>
          </a:p>
          <a:p>
            <a:r>
              <a:rPr lang="en-US" b="1"/>
              <a:t>How evaluation misleads: </a:t>
            </a:r>
          </a:p>
          <a:p>
            <a:r>
              <a:rPr lang="en-US"/>
              <a:t>Aggregate vs. subgroup accuracy </a:t>
            </a:r>
          </a:p>
          <a:p>
            <a:r>
              <a:rPr lang="en-US"/>
              <a:t>Benchmark datasets carry their own bias </a:t>
            </a:r>
          </a:p>
          <a:p>
            <a:r>
              <a:rPr lang="en-US"/>
              <a:t>The metric selection problem </a:t>
            </a:r>
          </a:p>
          <a:p>
            <a:endParaRPr lang="en-US"/>
          </a:p>
        </p:txBody>
      </p:sp>
    </p:spTree>
    <p:extLst>
      <p:ext uri="{BB962C8B-B14F-4D97-AF65-F5344CB8AC3E}">
        <p14:creationId xmlns:p14="http://schemas.microsoft.com/office/powerpoint/2010/main" val="2374549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B3CC5-3E3B-F06D-C39A-0B5AE2C0F3AE}"/>
              </a:ext>
            </a:extLst>
          </p:cNvPr>
          <p:cNvSpPr>
            <a:spLocks noGrp="1"/>
          </p:cNvSpPr>
          <p:nvPr>
            <p:ph type="title"/>
          </p:nvPr>
        </p:nvSpPr>
        <p:spPr/>
        <p:txBody>
          <a:bodyPr/>
          <a:lstStyle/>
          <a:p>
            <a:r>
              <a:rPr lang="en-US"/>
              <a:t>The effect of bias</a:t>
            </a:r>
          </a:p>
        </p:txBody>
      </p:sp>
      <p:sp>
        <p:nvSpPr>
          <p:cNvPr id="3" name="Text Placeholder 2">
            <a:extLst>
              <a:ext uri="{FF2B5EF4-FFF2-40B4-BE49-F238E27FC236}">
                <a16:creationId xmlns:a16="http://schemas.microsoft.com/office/drawing/2014/main" id="{A7879FC4-E500-21EC-3934-20037A9FAF69}"/>
              </a:ext>
            </a:extLst>
          </p:cNvPr>
          <p:cNvSpPr>
            <a:spLocks noGrp="1"/>
          </p:cNvSpPr>
          <p:nvPr>
            <p:ph type="body" sz="quarter" idx="13"/>
          </p:nvPr>
        </p:nvSpPr>
        <p:spPr/>
        <p:txBody>
          <a:bodyPr vert="horz" lIns="91440" tIns="45720" rIns="91440" bIns="45720" rtlCol="0" anchor="t">
            <a:noAutofit/>
          </a:bodyPr>
          <a:lstStyle/>
          <a:p>
            <a:r>
              <a:rPr lang="en-US">
                <a:cs typeface="Poppins Light"/>
              </a:rPr>
              <a:t>Why Bias in AI is Dangerous</a:t>
            </a:r>
            <a:endParaRPr lang="en-US"/>
          </a:p>
        </p:txBody>
      </p:sp>
    </p:spTree>
    <p:extLst>
      <p:ext uri="{BB962C8B-B14F-4D97-AF65-F5344CB8AC3E}">
        <p14:creationId xmlns:p14="http://schemas.microsoft.com/office/powerpoint/2010/main" val="143128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CC664-12A5-825B-9B10-B5C6A28C2F46}"/>
              </a:ext>
            </a:extLst>
          </p:cNvPr>
          <p:cNvSpPr>
            <a:spLocks noGrp="1"/>
          </p:cNvSpPr>
          <p:nvPr>
            <p:ph type="title"/>
          </p:nvPr>
        </p:nvSpPr>
        <p:spPr>
          <a:xfrm>
            <a:off x="321733" y="4626144"/>
            <a:ext cx="3505791" cy="1892808"/>
          </a:xfrm>
        </p:spPr>
        <p:txBody>
          <a:bodyPr anchor="t">
            <a:normAutofit/>
          </a:bodyPr>
          <a:lstStyle/>
          <a:p>
            <a:r>
              <a:rPr lang="en-US"/>
              <a:t>AI and</a:t>
            </a:r>
            <a:br>
              <a:rPr lang="en-US"/>
            </a:br>
            <a:r>
              <a:rPr lang="en-US"/>
              <a:t>law enforcement</a:t>
            </a:r>
          </a:p>
        </p:txBody>
      </p:sp>
      <p:pic>
        <p:nvPicPr>
          <p:cNvPr id="5" name="Picture Placeholder 4" descr="ShotSpotter equipment overlooks the intersection of South Stony Island Avenue and East 63rd Street in Chicago on Tuesday, Aug. 10, 2021. An Associated Press investigation, based on a review of thousands of internal documents, emails, presentations and confidential contracts, along with interviews with dozens of public defenders in communities where ShotSpotter has been deployed, has identified a number of serious flaws in using ShotSpotter as evidentiary support for prosecutions. (AP Photo/Charles Rex Arbogast)">
            <a:extLst>
              <a:ext uri="{FF2B5EF4-FFF2-40B4-BE49-F238E27FC236}">
                <a16:creationId xmlns:a16="http://schemas.microsoft.com/office/drawing/2014/main" id="{E6B69601-B0CD-6D67-47AE-8C5A0C17C3BC}"/>
              </a:ext>
            </a:extLst>
          </p:cNvPr>
          <p:cNvPicPr>
            <a:picLocks noGrp="1" noChangeAspect="1"/>
          </p:cNvPicPr>
          <p:nvPr>
            <p:ph type="pic" sz="quarter" idx="13"/>
          </p:nvPr>
        </p:nvPicPr>
        <p:blipFill>
          <a:blip r:embed="rId2"/>
          <a:srcRect l="-362" t="52114" r="362" b="1228"/>
          <a:stretch>
            <a:fillRect/>
          </a:stretch>
        </p:blipFill>
        <p:spPr>
          <a:xfrm>
            <a:off x="-1" y="10"/>
            <a:ext cx="12191990" cy="4014747"/>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noFill/>
        </p:spPr>
      </p:pic>
      <p:sp>
        <p:nvSpPr>
          <p:cNvPr id="4" name="Content Placeholder 3">
            <a:extLst>
              <a:ext uri="{FF2B5EF4-FFF2-40B4-BE49-F238E27FC236}">
                <a16:creationId xmlns:a16="http://schemas.microsoft.com/office/drawing/2014/main" id="{FB769A36-5D85-2CA0-733B-1833E57DA27C}"/>
              </a:ext>
            </a:extLst>
          </p:cNvPr>
          <p:cNvSpPr>
            <a:spLocks noGrp="1"/>
          </p:cNvSpPr>
          <p:nvPr>
            <p:ph sz="quarter" idx="14"/>
          </p:nvPr>
        </p:nvSpPr>
        <p:spPr>
          <a:xfrm>
            <a:off x="4099118" y="4449448"/>
            <a:ext cx="7772400" cy="2240280"/>
          </a:xfrm>
        </p:spPr>
        <p:txBody>
          <a:bodyPr vert="horz" lIns="91440" tIns="45720" rIns="91440" bIns="45720" rtlCol="0" anchor="t">
            <a:normAutofit/>
          </a:bodyPr>
          <a:lstStyle/>
          <a:p>
            <a:pPr marL="0" indent="0">
              <a:buNone/>
            </a:pPr>
            <a:r>
              <a:rPr lang="en-US"/>
              <a:t>Artificial Intelligence doesn't just reflect bias, it amplifies it.</a:t>
            </a:r>
          </a:p>
          <a:p>
            <a:pPr marL="0" indent="0">
              <a:buNone/>
            </a:pPr>
            <a:r>
              <a:rPr lang="en-US"/>
              <a:t>MIT reported a 20% accuracy rate in AI crime prediction.</a:t>
            </a:r>
            <a:endParaRPr lang="en-US">
              <a:cs typeface="Poppins Light"/>
            </a:endParaRPr>
          </a:p>
          <a:p>
            <a:pPr marL="0" indent="0">
              <a:buNone/>
            </a:pPr>
            <a:r>
              <a:rPr lang="en-US" err="1"/>
              <a:t>Shotspotter</a:t>
            </a:r>
            <a:r>
              <a:rPr lang="en-US"/>
              <a:t>, a software designed to alert for gun violence, self-reported a 98% accuracy rate, but police reports showed 9.1%.</a:t>
            </a:r>
            <a:endParaRPr lang="en-US">
              <a:cs typeface="Poppins Light"/>
            </a:endParaRPr>
          </a:p>
        </p:txBody>
      </p:sp>
    </p:spTree>
    <p:extLst>
      <p:ext uri="{BB962C8B-B14F-4D97-AF65-F5344CB8AC3E}">
        <p14:creationId xmlns:p14="http://schemas.microsoft.com/office/powerpoint/2010/main" val="2630089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D3545-37C2-7437-3757-5A938113EE2B}"/>
              </a:ext>
            </a:extLst>
          </p:cNvPr>
          <p:cNvSpPr>
            <a:spLocks noGrp="1"/>
          </p:cNvSpPr>
          <p:nvPr>
            <p:ph type="title"/>
          </p:nvPr>
        </p:nvSpPr>
        <p:spPr>
          <a:xfrm>
            <a:off x="612648" y="553616"/>
            <a:ext cx="3595634" cy="1757505"/>
          </a:xfrm>
        </p:spPr>
        <p:txBody>
          <a:bodyPr anchor="t">
            <a:normAutofit/>
          </a:bodyPr>
          <a:lstStyle/>
          <a:p>
            <a:r>
              <a:rPr lang="en-US"/>
              <a:t>Limited access to  opportunity in healthcare</a:t>
            </a:r>
          </a:p>
        </p:txBody>
      </p:sp>
      <p:sp>
        <p:nvSpPr>
          <p:cNvPr id="3" name="Content Placeholder 2">
            <a:extLst>
              <a:ext uri="{FF2B5EF4-FFF2-40B4-BE49-F238E27FC236}">
                <a16:creationId xmlns:a16="http://schemas.microsoft.com/office/drawing/2014/main" id="{887FC26E-DA75-CECC-9F86-947A30E55540}"/>
              </a:ext>
            </a:extLst>
          </p:cNvPr>
          <p:cNvSpPr>
            <a:spLocks noGrp="1"/>
          </p:cNvSpPr>
          <p:nvPr>
            <p:ph type="body" sz="half" idx="2"/>
          </p:nvPr>
        </p:nvSpPr>
        <p:spPr>
          <a:xfrm>
            <a:off x="612648" y="2311121"/>
            <a:ext cx="3595634" cy="3993263"/>
          </a:xfrm>
        </p:spPr>
        <p:txBody>
          <a:bodyPr vert="horz" lIns="91440" tIns="45720" rIns="91440" bIns="45720" rtlCol="0" anchor="t">
            <a:normAutofit/>
          </a:bodyPr>
          <a:lstStyle/>
          <a:p>
            <a:r>
              <a:rPr lang="en-US"/>
              <a:t>Foster children and pregnant women denied healthcare.</a:t>
            </a:r>
          </a:p>
          <a:p>
            <a:r>
              <a:rPr lang="en-US"/>
              <a:t>Thousands of people are losing healthcare each month due to errors in AI systems.</a:t>
            </a:r>
          </a:p>
          <a:p>
            <a:r>
              <a:rPr lang="en-US"/>
              <a:t>AI coverage evaluations affecting 300,000+, mostly children.</a:t>
            </a:r>
          </a:p>
        </p:txBody>
      </p:sp>
      <p:pic>
        <p:nvPicPr>
          <p:cNvPr id="5" name="Picture Placeholder 4" descr="Single payer healthcare: Pluses, minuses, and what it means for you -  Harvard Health">
            <a:extLst>
              <a:ext uri="{FF2B5EF4-FFF2-40B4-BE49-F238E27FC236}">
                <a16:creationId xmlns:a16="http://schemas.microsoft.com/office/drawing/2014/main" id="{C8C918AC-A510-A09E-C95E-DA3157E611B4}"/>
              </a:ext>
            </a:extLst>
          </p:cNvPr>
          <p:cNvPicPr>
            <a:picLocks noGrp="1" noChangeAspect="1"/>
          </p:cNvPicPr>
          <p:nvPr>
            <p:ph idx="1"/>
          </p:nvPr>
        </p:nvPicPr>
        <p:blipFill>
          <a:blip r:embed="rId2"/>
          <a:stretch/>
        </p:blipFill>
        <p:spPr>
          <a:xfrm>
            <a:off x="5134708" y="1281733"/>
            <a:ext cx="6440258" cy="4298872"/>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noFill/>
        </p:spPr>
      </p:pic>
    </p:spTree>
    <p:extLst>
      <p:ext uri="{BB962C8B-B14F-4D97-AF65-F5344CB8AC3E}">
        <p14:creationId xmlns:p14="http://schemas.microsoft.com/office/powerpoint/2010/main" val="3734224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8D581-3968-4CDB-81B0-4B2A7E4E44AD}"/>
              </a:ext>
            </a:extLst>
          </p:cNvPr>
          <p:cNvSpPr>
            <a:spLocks noGrp="1"/>
          </p:cNvSpPr>
          <p:nvPr>
            <p:ph type="title"/>
          </p:nvPr>
        </p:nvSpPr>
        <p:spPr>
          <a:xfrm>
            <a:off x="321733" y="5012268"/>
            <a:ext cx="3739896" cy="1390330"/>
          </a:xfrm>
        </p:spPr>
        <p:txBody>
          <a:bodyPr anchor="t">
            <a:normAutofit/>
          </a:bodyPr>
          <a:lstStyle/>
          <a:p>
            <a:r>
              <a:rPr lang="en-US"/>
              <a:t>Distrust in technology</a:t>
            </a:r>
          </a:p>
        </p:txBody>
      </p:sp>
      <p:pic>
        <p:nvPicPr>
          <p:cNvPr id="5" name="Picture Placeholder 4" descr="Politico survey finds 84% of EU people distrust US tech companies to handle  their personal data responsibly, rising to 93% distrust for Chinese tech  firms : r/technology">
            <a:extLst>
              <a:ext uri="{FF2B5EF4-FFF2-40B4-BE49-F238E27FC236}">
                <a16:creationId xmlns:a16="http://schemas.microsoft.com/office/drawing/2014/main" id="{5A1CBE03-8936-EC34-C181-F498D335857A}"/>
              </a:ext>
            </a:extLst>
          </p:cNvPr>
          <p:cNvPicPr>
            <a:picLocks noGrp="1" noChangeAspect="1"/>
          </p:cNvPicPr>
          <p:nvPr>
            <p:ph type="pic" sz="quarter" idx="13"/>
          </p:nvPr>
        </p:nvPicPr>
        <p:blipFill>
          <a:blip r:embed="rId2"/>
          <a:srcRect t="2407" b="25178"/>
          <a:stretch>
            <a:fillRect/>
          </a:stretch>
        </p:blipFill>
        <p:spPr>
          <a:xfrm>
            <a:off x="-1" y="10"/>
            <a:ext cx="12192000" cy="4635122"/>
          </a:xfrm>
          <a:prstGeom prst="rect">
            <a:avLst/>
          </a:prstGeom>
          <a:noFill/>
        </p:spPr>
      </p:pic>
      <p:sp>
        <p:nvSpPr>
          <p:cNvPr id="4" name="Content Placeholder 3">
            <a:extLst>
              <a:ext uri="{FF2B5EF4-FFF2-40B4-BE49-F238E27FC236}">
                <a16:creationId xmlns:a16="http://schemas.microsoft.com/office/drawing/2014/main" id="{AEFFEB48-2DAE-058F-3501-562D2E8E67D7}"/>
              </a:ext>
            </a:extLst>
          </p:cNvPr>
          <p:cNvSpPr>
            <a:spLocks noGrp="1"/>
          </p:cNvSpPr>
          <p:nvPr>
            <p:ph sz="quarter" idx="14"/>
          </p:nvPr>
        </p:nvSpPr>
        <p:spPr>
          <a:xfrm>
            <a:off x="5349240" y="5012267"/>
            <a:ext cx="6400800" cy="1390330"/>
          </a:xfrm>
        </p:spPr>
        <p:txBody>
          <a:bodyPr vert="horz" lIns="91440" tIns="45720" rIns="91440" bIns="45720" rtlCol="0" anchor="t">
            <a:normAutofit/>
          </a:bodyPr>
          <a:lstStyle/>
          <a:p>
            <a:r>
              <a:rPr lang="en-US"/>
              <a:t>Distrust in technology results in a lack of emergency support, poor crisis detection.</a:t>
            </a:r>
          </a:p>
          <a:p>
            <a:r>
              <a:rPr lang="en-US"/>
              <a:t>As developers, ensure our systems are unbiased and reliable.</a:t>
            </a:r>
          </a:p>
        </p:txBody>
      </p:sp>
    </p:spTree>
    <p:extLst>
      <p:ext uri="{BB962C8B-B14F-4D97-AF65-F5344CB8AC3E}">
        <p14:creationId xmlns:p14="http://schemas.microsoft.com/office/powerpoint/2010/main" val="2348735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F2FBA-EF02-C91E-9619-D7D2BFCC7B25}"/>
              </a:ext>
            </a:extLst>
          </p:cNvPr>
          <p:cNvSpPr>
            <a:spLocks noGrp="1"/>
          </p:cNvSpPr>
          <p:nvPr>
            <p:ph type="title"/>
          </p:nvPr>
        </p:nvSpPr>
        <p:spPr>
          <a:xfrm>
            <a:off x="612648" y="553616"/>
            <a:ext cx="3595634" cy="1757505"/>
          </a:xfrm>
        </p:spPr>
        <p:txBody>
          <a:bodyPr anchor="t">
            <a:normAutofit/>
          </a:bodyPr>
          <a:lstStyle/>
          <a:p>
            <a:r>
              <a:rPr lang="en-US"/>
              <a:t>Legal consequences</a:t>
            </a:r>
          </a:p>
        </p:txBody>
      </p:sp>
      <p:sp>
        <p:nvSpPr>
          <p:cNvPr id="3" name="Content Placeholder 2">
            <a:extLst>
              <a:ext uri="{FF2B5EF4-FFF2-40B4-BE49-F238E27FC236}">
                <a16:creationId xmlns:a16="http://schemas.microsoft.com/office/drawing/2014/main" id="{E63986DE-F6E7-ADCD-9E6D-8101865BBEC5}"/>
              </a:ext>
            </a:extLst>
          </p:cNvPr>
          <p:cNvSpPr>
            <a:spLocks noGrp="1"/>
          </p:cNvSpPr>
          <p:nvPr>
            <p:ph type="body" sz="half" idx="2"/>
          </p:nvPr>
        </p:nvSpPr>
        <p:spPr>
          <a:xfrm>
            <a:off x="612648" y="2311121"/>
            <a:ext cx="3595634" cy="3993263"/>
          </a:xfrm>
        </p:spPr>
        <p:txBody>
          <a:bodyPr vert="horz" lIns="91440" tIns="45720" rIns="91440" bIns="45720" rtlCol="0" anchor="t">
            <a:normAutofit/>
          </a:bodyPr>
          <a:lstStyle/>
          <a:p>
            <a:pPr>
              <a:lnSpc>
                <a:spcPct val="130000"/>
              </a:lnSpc>
            </a:pPr>
            <a:r>
              <a:rPr lang="en-US" sz="1500"/>
              <a:t>Lawsuits, regulations, and public backlash.</a:t>
            </a:r>
            <a:endParaRPr lang="en-US">
              <a:cs typeface="Poppins Light"/>
            </a:endParaRPr>
          </a:p>
          <a:p>
            <a:pPr>
              <a:lnSpc>
                <a:spcPct val="130000"/>
              </a:lnSpc>
            </a:pPr>
            <a:r>
              <a:rPr lang="en-US" sz="1500"/>
              <a:t>May occur in hiring practices, employment decisions, lending decisions, housing decisions, and medical care.</a:t>
            </a:r>
            <a:endParaRPr lang="en-US" sz="1500">
              <a:cs typeface="Poppins Light"/>
            </a:endParaRPr>
          </a:p>
          <a:p>
            <a:pPr>
              <a:lnSpc>
                <a:spcPct val="130000"/>
              </a:lnSpc>
            </a:pPr>
            <a:r>
              <a:rPr lang="en-US" sz="1500"/>
              <a:t>Developers can be sued using the Civil Rights Act, the Age Discrimination Act in Employment Act, the Fair Housing Act, the Voting Rights Act, and the Americans with Disabilities Act, among others.</a:t>
            </a:r>
            <a:endParaRPr lang="en-US" sz="1500">
              <a:cs typeface="Poppins Light"/>
            </a:endParaRPr>
          </a:p>
        </p:txBody>
      </p:sp>
      <p:pic>
        <p:nvPicPr>
          <p:cNvPr id="5" name="Picture Placeholder 4" descr="Paralegal vs. Lawyer: Legal Studies &amp; Programs Explained">
            <a:extLst>
              <a:ext uri="{FF2B5EF4-FFF2-40B4-BE49-F238E27FC236}">
                <a16:creationId xmlns:a16="http://schemas.microsoft.com/office/drawing/2014/main" id="{B3D02AA7-38AB-4447-034F-39CD575AC4C8}"/>
              </a:ext>
            </a:extLst>
          </p:cNvPr>
          <p:cNvPicPr>
            <a:picLocks noGrp="1" noChangeAspect="1"/>
          </p:cNvPicPr>
          <p:nvPr>
            <p:ph idx="1"/>
          </p:nvPr>
        </p:nvPicPr>
        <p:blipFill>
          <a:blip r:embed="rId2"/>
          <a:stretch/>
        </p:blipFill>
        <p:spPr>
          <a:xfrm>
            <a:off x="5134708" y="1281733"/>
            <a:ext cx="6440258" cy="4298872"/>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noFill/>
        </p:spPr>
      </p:pic>
    </p:spTree>
    <p:extLst>
      <p:ext uri="{BB962C8B-B14F-4D97-AF65-F5344CB8AC3E}">
        <p14:creationId xmlns:p14="http://schemas.microsoft.com/office/powerpoint/2010/main" val="620740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094D-B395-F288-309A-5A235E34B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53875-7DE0-3742-DD52-351BA9A7D61F}"/>
              </a:ext>
            </a:extLst>
          </p:cNvPr>
          <p:cNvSpPr>
            <a:spLocks noGrp="1"/>
          </p:cNvSpPr>
          <p:nvPr>
            <p:ph type="title"/>
          </p:nvPr>
        </p:nvSpPr>
        <p:spPr/>
        <p:txBody>
          <a:bodyPr/>
          <a:lstStyle/>
          <a:p>
            <a:r>
              <a:rPr lang="en-US"/>
              <a:t>Questions?</a:t>
            </a:r>
          </a:p>
        </p:txBody>
      </p:sp>
      <p:sp>
        <p:nvSpPr>
          <p:cNvPr id="3" name="Text Placeholder 2">
            <a:extLst>
              <a:ext uri="{FF2B5EF4-FFF2-40B4-BE49-F238E27FC236}">
                <a16:creationId xmlns:a16="http://schemas.microsoft.com/office/drawing/2014/main" id="{934D302F-2A3D-286A-3CAF-A0F601624702}"/>
              </a:ext>
            </a:extLst>
          </p:cNvPr>
          <p:cNvSpPr>
            <a:spLocks noGrp="1"/>
          </p:cNvSpPr>
          <p:nvPr>
            <p:ph type="body" sz="quarter" idx="13"/>
          </p:nvPr>
        </p:nvSpPr>
        <p:spPr>
          <a:xfrm>
            <a:off x="1346090" y="1715226"/>
            <a:ext cx="3853159" cy="558951"/>
          </a:xfrm>
        </p:spPr>
        <p:txBody>
          <a:bodyPr vert="horz" lIns="91440" tIns="45720" rIns="91440" bIns="45720" rtlCol="0" anchor="t">
            <a:noAutofit/>
          </a:bodyPr>
          <a:lstStyle/>
          <a:p>
            <a:r>
              <a:rPr lang="en-US">
                <a:cs typeface="Poppins Light"/>
              </a:rPr>
              <a:t>Just kidding. Please don't ask questions. Public speaking is scary.</a:t>
            </a:r>
          </a:p>
        </p:txBody>
      </p:sp>
    </p:spTree>
    <p:extLst>
      <p:ext uri="{BB962C8B-B14F-4D97-AF65-F5344CB8AC3E}">
        <p14:creationId xmlns:p14="http://schemas.microsoft.com/office/powerpoint/2010/main" val="96905593"/>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e7161a4-0bde-4326-a138-e6722037e15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3ABBCAD4D683D4981CE963DF5586BE9" ma:contentTypeVersion="11" ma:contentTypeDescription="Create a new document." ma:contentTypeScope="" ma:versionID="dc939266fd1a1b95d72ab0bfe48da17a">
  <xsd:schema xmlns:xsd="http://www.w3.org/2001/XMLSchema" xmlns:xs="http://www.w3.org/2001/XMLSchema" xmlns:p="http://schemas.microsoft.com/office/2006/metadata/properties" xmlns:ns3="be7161a4-0bde-4326-a138-e6722037e157" targetNamespace="http://schemas.microsoft.com/office/2006/metadata/properties" ma:root="true" ma:fieldsID="b7318a49fbd511c98f8ccff6789b32f9" ns3:_="">
    <xsd:import namespace="be7161a4-0bde-4326-a138-e6722037e15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7161a4-0bde-4326-a138-e6722037e15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782DA7-86C0-4A84-A860-11A1E6E3FB6B}">
  <ds:schemaRefs>
    <ds:schemaRef ds:uri="http://schemas.microsoft.com/office/2006/metadata/properties"/>
    <ds:schemaRef ds:uri="http://schemas.openxmlformats.org/package/2006/metadata/core-properties"/>
    <ds:schemaRef ds:uri="http://schemas.microsoft.com/office/2006/documentManagement/types"/>
    <ds:schemaRef ds:uri="http://www.w3.org/XML/1998/namespace"/>
    <ds:schemaRef ds:uri="http://purl.org/dc/elements/1.1/"/>
    <ds:schemaRef ds:uri="be7161a4-0bde-4326-a138-e6722037e157"/>
    <ds:schemaRef ds:uri="http://purl.org/dc/dcmitype/"/>
    <ds:schemaRef ds:uri="http://purl.org/dc/terms/"/>
    <ds:schemaRef ds:uri="http://schemas.microsoft.com/office/infopath/2007/PartnerControls"/>
  </ds:schemaRefs>
</ds:datastoreItem>
</file>

<file path=customXml/itemProps2.xml><?xml version="1.0" encoding="utf-8"?>
<ds:datastoreItem xmlns:ds="http://schemas.openxmlformats.org/officeDocument/2006/customXml" ds:itemID="{AA62F129-7604-41E2-988D-48717F02E951}">
  <ds:schemaRefs>
    <ds:schemaRef ds:uri="be7161a4-0bde-4326-a138-e6722037e15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{C53247C1-D8DE-49C6-9596-D52716D7A101}f4c2fa09-5552-4190-875c-1979579583e2-TFc553d604-a3b6-4c52-b2ed-3a769335c0fd_win32</Template>
  <TotalTime>0</TotalTime>
  <Words>498</Words>
  <Application>Microsoft Office PowerPoint</Application>
  <PresentationFormat>Widescreen</PresentationFormat>
  <Paragraphs>59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Lora</vt:lpstr>
      <vt:lpstr>Playfair Display Black</vt:lpstr>
      <vt:lpstr>Poppins Light</vt:lpstr>
      <vt:lpstr>Gradient Circle</vt:lpstr>
      <vt:lpstr>Bias in Ai</vt:lpstr>
      <vt:lpstr>Activity Time</vt:lpstr>
      <vt:lpstr>PowerPoint Presentation</vt:lpstr>
      <vt:lpstr>Bias in the ML pipeline (the technical problem)</vt:lpstr>
      <vt:lpstr>Stage 1: Data Collection </vt:lpstr>
      <vt:lpstr>Stage 2: Data labeling/Annotation</vt:lpstr>
      <vt:lpstr>Stage 3: Feature Selection</vt:lpstr>
      <vt:lpstr>Stage 4: Model Training</vt:lpstr>
      <vt:lpstr>Stage 5: evaluation</vt:lpstr>
      <vt:lpstr>The effect of bias</vt:lpstr>
      <vt:lpstr>AI and law enforcement</vt:lpstr>
      <vt:lpstr>Limited access to  opportunity in healthcare</vt:lpstr>
      <vt:lpstr>Distrust in technology</vt:lpstr>
      <vt:lpstr>Legal consequences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Shane, Hannah M</dc:creator>
  <cp:lastModifiedBy>Shane, Hannah M</cp:lastModifiedBy>
  <cp:revision>7</cp:revision>
  <dcterms:created xsi:type="dcterms:W3CDTF">2026-04-13T22:11:33Z</dcterms:created>
  <dcterms:modified xsi:type="dcterms:W3CDTF">2026-04-30T15:28:12Z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0x010100E3ABBCAD4D683D4981CE963DF5586BE9</vt:lpwstr>
  </property>
  <property fmtid="{D5CDD505-2E9C-101B-9397-08002B2CF9AE}" pid="3" name="MediaServiceImageTags">
    <vt:lpwstr/>
  </property>
</Properties>
</file>